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2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p>
            <a:r>
              <a:rPr lang="en-US" altLang="zh-CN" sz="2800" b="1"/>
              <a:t>Ego Canonical </a:t>
            </a:r>
            <a:r>
              <a:rPr lang="zh-CN" altLang="en-US" sz="2800" b="1"/>
              <a:t>坐标系</a:t>
            </a:r>
            <a:r>
              <a:rPr lang="zh-CN" altLang="en-US" sz="2800" b="1"/>
              <a:t>定义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p>
            <a:r>
              <a:rPr lang="zh-CN" altLang="en-US" sz="1800">
                <a:sym typeface="+mn-ea"/>
              </a:rPr>
              <a:t>相机的</a:t>
            </a:r>
            <a:r>
              <a:rPr lang="en-US" altLang="zh-CN" sz="1800">
                <a:sym typeface="+mn-ea"/>
              </a:rPr>
              <a:t>Canonical</a:t>
            </a:r>
            <a:r>
              <a:rPr lang="zh-CN" altLang="en-US" sz="1800">
                <a:sym typeface="+mn-ea"/>
              </a:rPr>
              <a:t>坐标系是：对于视锥和前视方向，</a:t>
            </a:r>
            <a:r>
              <a:rPr lang="en-US" altLang="zh-CN" sz="1800">
                <a:sym typeface="+mn-ea"/>
              </a:rPr>
              <a:t>z(</a:t>
            </a:r>
            <a:r>
              <a:rPr lang="zh-CN" altLang="en-US" sz="1800">
                <a:sym typeface="+mn-ea"/>
              </a:rPr>
              <a:t>蓝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向前，</a:t>
            </a:r>
            <a:r>
              <a:rPr lang="en-US" altLang="zh-CN" sz="1800">
                <a:sym typeface="+mn-ea"/>
              </a:rPr>
              <a:t>x(</a:t>
            </a:r>
            <a:r>
              <a:rPr lang="zh-CN" altLang="en-US" sz="1800">
                <a:sym typeface="+mn-ea"/>
              </a:rPr>
              <a:t>红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向右，</a:t>
            </a:r>
            <a:r>
              <a:rPr lang="en-US" altLang="zh-CN" sz="1800">
                <a:sym typeface="+mn-ea"/>
              </a:rPr>
              <a:t>y(</a:t>
            </a:r>
            <a:r>
              <a:rPr lang="zh-CN" altLang="en-US" sz="1800">
                <a:sym typeface="+mn-ea"/>
              </a:rPr>
              <a:t>绿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向下</a:t>
            </a:r>
            <a:endParaRPr lang="zh-CN" altLang="en-US" sz="1800">
              <a:sym typeface="+mn-ea"/>
            </a:endParaRPr>
          </a:p>
          <a:p>
            <a:r>
              <a:rPr lang="zh-CN" altLang="en-US" sz="1800"/>
              <a:t>在视锥方向上，当双手平放时，腕部</a:t>
            </a:r>
            <a:r>
              <a:rPr lang="en-US" altLang="zh-CN" sz="1800"/>
              <a:t>(wrist)</a:t>
            </a:r>
            <a:r>
              <a:rPr lang="zh-CN" altLang="en-US" sz="1800"/>
              <a:t>坐标系应当也满足：</a:t>
            </a:r>
            <a:r>
              <a:rPr lang="en-US" altLang="zh-CN" sz="1800">
                <a:sym typeface="+mn-ea"/>
              </a:rPr>
              <a:t>z(</a:t>
            </a:r>
            <a:r>
              <a:rPr lang="zh-CN" altLang="en-US" sz="1800">
                <a:sym typeface="+mn-ea"/>
              </a:rPr>
              <a:t>蓝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向前，</a:t>
            </a:r>
            <a:r>
              <a:rPr lang="en-US" altLang="zh-CN" sz="1800">
                <a:sym typeface="+mn-ea"/>
              </a:rPr>
              <a:t>x(</a:t>
            </a:r>
            <a:r>
              <a:rPr lang="zh-CN" altLang="en-US" sz="1800">
                <a:sym typeface="+mn-ea"/>
              </a:rPr>
              <a:t>红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向右，</a:t>
            </a:r>
            <a:r>
              <a:rPr lang="en-US" altLang="zh-CN" sz="1800">
                <a:sym typeface="+mn-ea"/>
              </a:rPr>
              <a:t>y(</a:t>
            </a:r>
            <a:r>
              <a:rPr lang="zh-CN" altLang="en-US" sz="1800">
                <a:sym typeface="+mn-ea"/>
              </a:rPr>
              <a:t>绿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向下</a:t>
            </a:r>
            <a:endParaRPr lang="en-US" altLang="zh-CN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5407"/>
          <a:stretch>
            <a:fillRect/>
          </a:stretch>
        </p:blipFill>
        <p:spPr>
          <a:xfrm>
            <a:off x="2082800" y="1623060"/>
            <a:ext cx="8026400" cy="50927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7916545" y="3839845"/>
            <a:ext cx="1270000" cy="47371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7340600" y="3052445"/>
            <a:ext cx="635635" cy="1261110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7941945" y="425386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4852035" y="3441700"/>
            <a:ext cx="685165" cy="922655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852035" y="4313555"/>
            <a:ext cx="998220" cy="45720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4852035" y="4313555"/>
            <a:ext cx="34290" cy="999490"/>
          </a:xfrm>
          <a:prstGeom prst="straightConnector1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35600" y="287464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z</a:t>
            </a:r>
            <a:endParaRPr lang="en-US" altLang="zh-CN" sz="4000" b="1"/>
          </a:p>
        </p:txBody>
      </p:sp>
      <p:sp>
        <p:nvSpPr>
          <p:cNvPr id="13" name="文本框 12"/>
          <p:cNvSpPr txBox="1"/>
          <p:nvPr/>
        </p:nvSpPr>
        <p:spPr>
          <a:xfrm>
            <a:off x="5800725" y="438086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x</a:t>
            </a:r>
            <a:endParaRPr lang="en-US" altLang="zh-CN" sz="4000" b="1"/>
          </a:p>
        </p:txBody>
      </p:sp>
      <p:sp>
        <p:nvSpPr>
          <p:cNvPr id="14" name="文本框 13"/>
          <p:cNvSpPr txBox="1"/>
          <p:nvPr/>
        </p:nvSpPr>
        <p:spPr>
          <a:xfrm>
            <a:off x="436118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y</a:t>
            </a:r>
            <a:endParaRPr lang="en-US" altLang="zh-CN" sz="4000" b="1"/>
          </a:p>
        </p:txBody>
      </p:sp>
      <p:sp>
        <p:nvSpPr>
          <p:cNvPr id="15" name="文本框 14"/>
          <p:cNvSpPr txBox="1"/>
          <p:nvPr/>
        </p:nvSpPr>
        <p:spPr>
          <a:xfrm>
            <a:off x="6983095" y="2452370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z</a:t>
            </a:r>
            <a:endParaRPr lang="en-US" altLang="zh-CN" sz="4000" b="1"/>
          </a:p>
        </p:txBody>
      </p:sp>
      <p:sp>
        <p:nvSpPr>
          <p:cNvPr id="16" name="文本框 15"/>
          <p:cNvSpPr txBox="1"/>
          <p:nvPr/>
        </p:nvSpPr>
        <p:spPr>
          <a:xfrm>
            <a:off x="9128125" y="338391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x</a:t>
            </a:r>
            <a:endParaRPr lang="en-US" altLang="zh-CN" sz="4000" b="1"/>
          </a:p>
        </p:txBody>
      </p:sp>
      <p:sp>
        <p:nvSpPr>
          <p:cNvPr id="17" name="文本框 16"/>
          <p:cNvSpPr txBox="1"/>
          <p:nvPr/>
        </p:nvSpPr>
        <p:spPr>
          <a:xfrm>
            <a:off x="7923530" y="4973955"/>
            <a:ext cx="490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 b="1"/>
              <a:t>y</a:t>
            </a:r>
            <a:endParaRPr lang="en-US" altLang="zh-CN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p>
            <a:r>
              <a:rPr lang="en-US" altLang="zh-CN" sz="2800" b="1"/>
              <a:t>Gripper</a:t>
            </a:r>
            <a:r>
              <a:rPr lang="zh-CN" altLang="en-US" sz="2800" b="1"/>
              <a:t>的</a:t>
            </a:r>
            <a:r>
              <a:rPr lang="en-US" altLang="zh-CN" sz="2800" b="1"/>
              <a:t>Ego Canonical </a:t>
            </a:r>
            <a:r>
              <a:rPr lang="zh-CN" altLang="en-US" sz="2800" b="1"/>
              <a:t>坐标系</a:t>
            </a:r>
            <a:r>
              <a:rPr lang="zh-CN" altLang="en-US" sz="2800" b="1"/>
              <a:t>定义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12165"/>
            <a:ext cx="10515600" cy="4785360"/>
          </a:xfrm>
        </p:spPr>
        <p:txBody>
          <a:bodyPr/>
          <a:p>
            <a:r>
              <a:rPr lang="zh-CN" altLang="en-US" sz="1800">
                <a:sym typeface="+mn-ea"/>
              </a:rPr>
              <a:t>相机的</a:t>
            </a:r>
            <a:r>
              <a:rPr lang="en-US" altLang="zh-CN" sz="1800">
                <a:sym typeface="+mn-ea"/>
              </a:rPr>
              <a:t>Canonical</a:t>
            </a:r>
            <a:r>
              <a:rPr lang="zh-CN" altLang="en-US" sz="1800">
                <a:sym typeface="+mn-ea"/>
              </a:rPr>
              <a:t>坐标系是：对于视锥和前视方向，</a:t>
            </a:r>
            <a:r>
              <a:rPr lang="en-US" altLang="zh-CN" sz="1800">
                <a:sym typeface="+mn-ea"/>
              </a:rPr>
              <a:t>z(</a:t>
            </a:r>
            <a:r>
              <a:rPr lang="zh-CN" altLang="en-US" sz="1800">
                <a:sym typeface="+mn-ea"/>
              </a:rPr>
              <a:t>蓝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向前，</a:t>
            </a:r>
            <a:r>
              <a:rPr lang="en-US" altLang="zh-CN" sz="1800">
                <a:sym typeface="+mn-ea"/>
              </a:rPr>
              <a:t>x(</a:t>
            </a:r>
            <a:r>
              <a:rPr lang="zh-CN" altLang="en-US" sz="1800">
                <a:sym typeface="+mn-ea"/>
              </a:rPr>
              <a:t>红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向右，</a:t>
            </a:r>
            <a:r>
              <a:rPr lang="en-US" altLang="zh-CN" sz="1800">
                <a:sym typeface="+mn-ea"/>
              </a:rPr>
              <a:t>y(</a:t>
            </a:r>
            <a:r>
              <a:rPr lang="zh-CN" altLang="en-US" sz="1800">
                <a:sym typeface="+mn-ea"/>
              </a:rPr>
              <a:t>绿</a:t>
            </a:r>
            <a:r>
              <a:rPr lang="en-US" altLang="zh-CN" sz="1800">
                <a:sym typeface="+mn-ea"/>
              </a:rPr>
              <a:t>)</a:t>
            </a:r>
            <a:r>
              <a:rPr lang="zh-CN" altLang="en-US" sz="1800">
                <a:sym typeface="+mn-ea"/>
              </a:rPr>
              <a:t>向下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对于是</a:t>
            </a:r>
            <a:r>
              <a:rPr lang="en-US" altLang="zh-CN" sz="1800">
                <a:sym typeface="+mn-ea"/>
              </a:rPr>
              <a:t>Gripper</a:t>
            </a:r>
            <a:r>
              <a:rPr lang="zh-CN" altLang="en-US" sz="1800">
                <a:sym typeface="+mn-ea"/>
              </a:rPr>
              <a:t>本体的</a:t>
            </a:r>
            <a:r>
              <a:rPr lang="en-US" altLang="zh-CN" sz="1800">
                <a:sym typeface="+mn-ea"/>
              </a:rPr>
              <a:t>Ego</a:t>
            </a:r>
            <a:r>
              <a:rPr lang="zh-CN" altLang="en-US" sz="1800">
                <a:sym typeface="+mn-ea"/>
              </a:rPr>
              <a:t>数据，我们用下图中的人手抓取姿态近似</a:t>
            </a:r>
            <a:r>
              <a:rPr lang="en-US" altLang="zh-CN" sz="1800">
                <a:sym typeface="+mn-ea"/>
              </a:rPr>
              <a:t>Gripper</a:t>
            </a:r>
            <a:r>
              <a:rPr lang="zh-CN" altLang="en-US" sz="1800">
                <a:sym typeface="+mn-ea"/>
              </a:rPr>
              <a:t>夹爪；</a:t>
            </a:r>
            <a:endParaRPr lang="en-US" altLang="zh-CN" sz="1800"/>
          </a:p>
        </p:txBody>
      </p:sp>
      <p:pic>
        <p:nvPicPr>
          <p:cNvPr id="1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470" y="1489710"/>
            <a:ext cx="10454005" cy="512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0970"/>
            <a:ext cx="10515600" cy="720090"/>
          </a:xfrm>
        </p:spPr>
        <p:txBody>
          <a:bodyPr>
            <a:normAutofit/>
          </a:bodyPr>
          <a:p>
            <a:r>
              <a:rPr lang="zh-CN" altLang="en-US" sz="2800" b="1"/>
              <a:t>检查</a:t>
            </a:r>
            <a:r>
              <a:rPr lang="zh-CN" altLang="en-US" sz="2800" b="1"/>
              <a:t>方式</a:t>
            </a:r>
            <a:endParaRPr lang="zh-CN" altLang="en-US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4480" y="861060"/>
            <a:ext cx="10515600" cy="5696585"/>
          </a:xfrm>
        </p:spPr>
        <p:txBody>
          <a:bodyPr>
            <a:normAutofit lnSpcReduction="10000"/>
          </a:bodyPr>
          <a:p>
            <a:r>
              <a:rPr lang="en-US" altLang="zh-CN" sz="1800"/>
              <a:t>(</a:t>
            </a:r>
            <a:r>
              <a:rPr lang="zh-CN" altLang="en-US" sz="1800"/>
              <a:t>右侧视频可播放</a:t>
            </a:r>
            <a:r>
              <a:rPr lang="en-US" altLang="zh-CN" sz="1800"/>
              <a:t>)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运行</a:t>
            </a:r>
            <a:r>
              <a:rPr lang="en-US" altLang="zh-CN" sz="1800"/>
              <a:t>precheck_4dvis.py</a:t>
            </a:r>
            <a:r>
              <a:rPr lang="zh-CN" altLang="en-US" sz="1800"/>
              <a:t>后</a:t>
            </a:r>
            <a:endParaRPr lang="zh-CN" altLang="en-US" sz="1800"/>
          </a:p>
          <a:p>
            <a:r>
              <a:rPr lang="zh-CN" altLang="en-US" sz="1800"/>
              <a:t>在</a:t>
            </a:r>
            <a:r>
              <a:rPr lang="en-US" altLang="zh-CN" sz="1800"/>
              <a:t>Viser</a:t>
            </a:r>
            <a:r>
              <a:rPr lang="zh-CN" altLang="en-US" sz="1800"/>
              <a:t>中转到一个</a:t>
            </a:r>
            <a:r>
              <a:rPr lang="en-US" altLang="zh-CN" sz="1800"/>
              <a:t>”</a:t>
            </a:r>
            <a:r>
              <a:rPr lang="zh-CN" altLang="en-US" sz="1800"/>
              <a:t>镜头向前</a:t>
            </a:r>
            <a:r>
              <a:rPr lang="en-US" altLang="zh-CN" sz="1800"/>
              <a:t>”</a:t>
            </a:r>
            <a:br>
              <a:rPr lang="en-US" altLang="zh-CN" sz="1800"/>
            </a:br>
            <a:r>
              <a:rPr lang="zh-CN" altLang="en-US" sz="1800"/>
              <a:t>的视角，点击</a:t>
            </a:r>
            <a:r>
              <a:rPr lang="en-US" altLang="zh-CN" sz="1800"/>
              <a:t>Playing</a:t>
            </a:r>
            <a:r>
              <a:rPr lang="zh-CN" altLang="en-US" sz="1800"/>
              <a:t>转为手动</a:t>
            </a:r>
            <a:br>
              <a:rPr lang="zh-CN" altLang="en-US" sz="1800"/>
            </a:br>
            <a:r>
              <a:rPr lang="zh-CN" altLang="en-US" sz="1800"/>
              <a:t>播放；</a:t>
            </a:r>
            <a:endParaRPr lang="zh-CN" altLang="en-US" sz="1800"/>
          </a:p>
          <a:p>
            <a:r>
              <a:rPr lang="zh-CN" altLang="en-US" sz="1800"/>
              <a:t>然后拖动进度条，看下方的代</a:t>
            </a:r>
            <a:br>
              <a:rPr lang="zh-CN" altLang="en-US" sz="1800"/>
            </a:br>
            <a:r>
              <a:rPr lang="zh-CN" altLang="en-US" sz="1800"/>
              <a:t>表</a:t>
            </a:r>
            <a:r>
              <a:rPr lang="en-US" altLang="zh-CN" sz="1800"/>
              <a:t>Gripper</a:t>
            </a:r>
            <a:r>
              <a:rPr lang="zh-CN" altLang="en-US" sz="1800"/>
              <a:t>的坐标的移动趋势</a:t>
            </a:r>
            <a:br>
              <a:rPr lang="zh-CN" altLang="en-US" sz="1800"/>
            </a:br>
            <a:r>
              <a:rPr lang="zh-CN" altLang="en-US" sz="1800"/>
              <a:t>是否和视频中的趋势</a:t>
            </a:r>
            <a:r>
              <a:rPr lang="zh-CN" altLang="en-US" sz="1800"/>
              <a:t>一致</a:t>
            </a:r>
            <a:endParaRPr lang="zh-CN" altLang="en-US" sz="1800"/>
          </a:p>
          <a:p>
            <a:r>
              <a:rPr lang="zh-CN" altLang="en-US" sz="1800"/>
              <a:t>例如，右侧案例中</a:t>
            </a:r>
            <a:r>
              <a:rPr lang="en-US" altLang="zh-CN" sz="1800"/>
              <a:t>Gripper</a:t>
            </a:r>
            <a:r>
              <a:rPr lang="zh-CN" altLang="en-US" sz="1800"/>
              <a:t>坐标</a:t>
            </a:r>
            <a:br>
              <a:rPr lang="zh-CN" altLang="en-US" sz="1800"/>
            </a:br>
            <a:r>
              <a:rPr lang="zh-CN" altLang="en-US" sz="1800"/>
              <a:t>移动趋势相对于初始都是先</a:t>
            </a:r>
            <a:br>
              <a:rPr lang="zh-CN" altLang="en-US" sz="1800"/>
            </a:br>
            <a:r>
              <a:rPr lang="zh-CN" altLang="en-US" sz="1800"/>
              <a:t>向前再左</a:t>
            </a:r>
            <a:r>
              <a:rPr lang="zh-CN" altLang="en-US" sz="1800"/>
              <a:t>再向后，和视频符合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另外注意检查当</a:t>
            </a:r>
            <a:r>
              <a:rPr lang="en-US" altLang="zh-CN" sz="1800"/>
              <a:t>”</a:t>
            </a:r>
            <a:r>
              <a:rPr lang="zh-CN" altLang="en-US" sz="1800"/>
              <a:t>镜头向前</a:t>
            </a:r>
            <a:r>
              <a:rPr lang="en-US" altLang="zh-CN" sz="1800"/>
              <a:t>”</a:t>
            </a:r>
            <a:r>
              <a:rPr lang="zh-CN" altLang="en-US" sz="1800"/>
              <a:t>，</a:t>
            </a:r>
            <a:br>
              <a:rPr lang="zh-CN" altLang="en-US" sz="1800"/>
            </a:br>
            <a:r>
              <a:rPr lang="en-US" altLang="zh-CN" sz="1800"/>
              <a:t>Wrist Pose</a:t>
            </a:r>
            <a:r>
              <a:rPr lang="zh-CN" altLang="en-US" sz="1800"/>
              <a:t>的定义是否符合上</a:t>
            </a:r>
            <a:br>
              <a:rPr lang="zh-CN" altLang="en-US" sz="1800"/>
            </a:br>
            <a:r>
              <a:rPr lang="zh-CN" altLang="en-US" sz="1800"/>
              <a:t>一页的</a:t>
            </a:r>
            <a:r>
              <a:rPr lang="en-US" altLang="zh-CN" sz="1800"/>
              <a:t>Canonical</a:t>
            </a:r>
            <a:r>
              <a:rPr lang="zh-CN" altLang="en-US" sz="1800"/>
              <a:t>坐标</a:t>
            </a:r>
            <a:r>
              <a:rPr lang="zh-CN" altLang="en-US" sz="1800"/>
              <a:t>定义</a:t>
            </a:r>
            <a:endParaRPr lang="zh-CN" altLang="en-US" sz="1800"/>
          </a:p>
          <a:p>
            <a:endParaRPr lang="zh-CN" altLang="en-US" sz="1800"/>
          </a:p>
        </p:txBody>
      </p:sp>
      <p:pic>
        <p:nvPicPr>
          <p:cNvPr id="4" name="20260706_104747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830955" y="356235"/>
            <a:ext cx="8246110" cy="5469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WPS 演示</Application>
  <PresentationFormat>宽屏</PresentationFormat>
  <Paragraphs>35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Ego Canonical 坐标系定义</vt:lpstr>
      <vt:lpstr>Ego Canonical 坐标系定义</vt:lpstr>
      <vt:lpstr>检查方式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不知道</cp:lastModifiedBy>
  <cp:revision>27</cp:revision>
  <dcterms:created xsi:type="dcterms:W3CDTF">2023-08-09T12:44:00Z</dcterms:created>
  <dcterms:modified xsi:type="dcterms:W3CDTF">2026-07-06T14:32:54Z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D77627B38D5C41419C4B011717AD1F36_12</vt:lpwstr>
  </property>
</Properties>
</file>